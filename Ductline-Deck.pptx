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305" r:id="rId3"/>
    <p:sldId id="274" r:id="rId4"/>
    <p:sldId id="275" r:id="rId5"/>
    <p:sldId id="276" r:id="rId6"/>
    <p:sldId id="277" r:id="rId7"/>
    <p:sldId id="290" r:id="rId8"/>
    <p:sldId id="279" r:id="rId9"/>
    <p:sldId id="293" r:id="rId10"/>
    <p:sldId id="281" r:id="rId11"/>
    <p:sldId id="282" r:id="rId12"/>
    <p:sldId id="283" r:id="rId13"/>
    <p:sldId id="298" r:id="rId14"/>
    <p:sldId id="285" r:id="rId15"/>
    <p:sldId id="294" r:id="rId16"/>
    <p:sldId id="287" r:id="rId17"/>
    <p:sldId id="297" r:id="rId18"/>
    <p:sldId id="30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5"/>
    <p:restoredTop sz="94698"/>
  </p:normalViewPr>
  <p:slideViewPr>
    <p:cSldViewPr snapToGrid="0" snapToObjects="1">
      <p:cViewPr>
        <p:scale>
          <a:sx n="228" d="100"/>
          <a:sy n="228" d="100"/>
        </p:scale>
        <p:origin x="4192" y="2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50292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863840" y="502920"/>
            <a:ext cx="0" cy="585216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8A8A90"/>
                </a:solidFill>
                <a:latin typeface="JetBrains Mono"/>
              </a:rPr>
              <a:t>HVAC  ·  TAKE-HOME ASSESSMENT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82880"/>
            <a:ext cx="37334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20">
                <a:solidFill>
                  <a:srgbClr val="0F0F12"/>
                </a:solidFill>
                <a:latin typeface="Inter"/>
              </a:rPr>
              <a:t>Arjun Sarath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9200"/>
            <a:ext cx="7315200" cy="1871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 spc="-350" dirty="0" err="1">
                <a:solidFill>
                  <a:srgbClr val="0F0F12"/>
                </a:solidFill>
                <a:latin typeface="Inter"/>
              </a:rPr>
              <a:t>Ductline</a:t>
            </a:r>
            <a:endParaRPr sz="12800" b="1" spc="-350" dirty="0">
              <a:solidFill>
                <a:srgbClr val="0F0F12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78653" y="36860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3180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spc="-30">
                <a:solidFill>
                  <a:srgbClr val="3A3A3F"/>
                </a:solidFill>
                <a:latin typeface="Inter"/>
              </a:rPr>
              <a:t>Drawing in. Structured duct data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59400"/>
            <a:ext cx="914400" cy="365760"/>
          </a:xfrm>
          <a:prstGeom prst="roundRect">
            <a:avLst>
              <a:gd name="adj" fmla="val 35000"/>
            </a:avLst>
          </a:prstGeom>
          <a:solidFill>
            <a:srgbClr val="F6F5F0"/>
          </a:solidFill>
          <a:ln w="9525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53594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spc="200">
                <a:solidFill>
                  <a:srgbClr val="8A8A90"/>
                </a:solidFill>
                <a:latin typeface="JetBrains Mono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5359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90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6" y="5359400"/>
            <a:ext cx="914400" cy="365760"/>
          </a:xfrm>
          <a:prstGeom prst="roundRect">
            <a:avLst>
              <a:gd name="adj" fmla="val 35000"/>
            </a:avLst>
          </a:prstGeom>
          <a:solidFill>
            <a:srgbClr val="F6F5F0"/>
          </a:solidFill>
          <a:ln w="9525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11096" y="53594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spc="200">
                <a:solidFill>
                  <a:srgbClr val="8A8A90"/>
                </a:solidFill>
                <a:latin typeface="JetBrains Mono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5359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90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5359400"/>
            <a:ext cx="914400" cy="365760"/>
          </a:xfrm>
          <a:prstGeom prst="roundRect">
            <a:avLst>
              <a:gd name="adj" fmla="val 35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53594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200">
                <a:solidFill>
                  <a:srgbClr val="FFFFFF"/>
                </a:solidFill>
                <a:latin typeface="JetBrains Mono"/>
              </a:rPr>
              <a:t>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359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90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5359400"/>
            <a:ext cx="1463040" cy="3657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53594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spc="200">
                <a:solidFill>
                  <a:srgbClr val="0F0F12"/>
                </a:solidFill>
                <a:latin typeface="JetBrains Mono"/>
              </a:rPr>
              <a:t>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868928"/>
            <a:ext cx="3504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00728"/>
            <a:ext cx="35048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529328"/>
            <a:ext cx="35048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0F12"/>
                </a:solidFill>
                <a:latin typeface="Inter"/>
              </a:rPr>
              <a:t>Arjun Sarath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904232"/>
            <a:ext cx="35048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132832"/>
            <a:ext cx="35048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0F12"/>
                </a:solidFill>
                <a:latin typeface="Inter"/>
              </a:rPr>
              <a:t>16-slide narrative · 5-drawing benchmark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513832"/>
            <a:ext cx="35048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5742432"/>
            <a:ext cx="35048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0F12"/>
                </a:solidFill>
                <a:latin typeface="Inter"/>
              </a:rPr>
              <a:t>implementation/  ·  V1, V2, V3 all building</a:t>
            </a:r>
          </a:p>
        </p:txBody>
      </p:sp>
    </p:spTree>
    <p:extLst>
      <p:ext uri="{BB962C8B-B14F-4D97-AF65-F5344CB8AC3E}">
        <p14:creationId xmlns:p14="http://schemas.microsoft.com/office/powerpoint/2010/main" val="408733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D78A3F0-21AA-1749-A6F1-026F0AF648D3}"/>
              </a:ext>
            </a:extLst>
          </p:cNvPr>
          <p:cNvSpPr/>
          <p:nvPr/>
        </p:nvSpPr>
        <p:spPr>
          <a:xfrm>
            <a:off x="508000" y="50800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82D25-DDD9-1147-ABE5-865CA800781A}"/>
              </a:ext>
            </a:extLst>
          </p:cNvPr>
          <p:cNvSpPr txBox="1"/>
          <p:nvPr/>
        </p:nvSpPr>
        <p:spPr>
          <a:xfrm>
            <a:off x="508000" y="177800"/>
            <a:ext cx="7315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spc="100" dirty="0">
                <a:solidFill>
                  <a:srgbClr val="0F0F12"/>
                </a:solidFill>
                <a:latin typeface="JetBrains Mono"/>
              </a:rPr>
              <a:t>Ductline</a:t>
            </a:r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  ·  Drawing in. Structured duct data out.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CB847-3567-1042-A88B-4B59BDC65F11}"/>
              </a:ext>
            </a:extLst>
          </p:cNvPr>
          <p:cNvSpPr txBox="1"/>
          <p:nvPr/>
        </p:nvSpPr>
        <p:spPr>
          <a:xfrm>
            <a:off x="7950200" y="177800"/>
            <a:ext cx="37338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02 / 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DB4E8-AA48-624B-9754-06F0678A9B8F}"/>
              </a:ext>
            </a:extLst>
          </p:cNvPr>
          <p:cNvSpPr txBox="1"/>
          <p:nvPr/>
        </p:nvSpPr>
        <p:spPr>
          <a:xfrm>
            <a:off x="508000" y="889000"/>
            <a:ext cx="7315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200" dirty="0">
                <a:solidFill>
                  <a:srgbClr val="E84F1C"/>
                </a:solidFill>
                <a:latin typeface="JetBrains Mono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6A31B-9A7F-1C47-906D-94D528171661}"/>
              </a:ext>
            </a:extLst>
          </p:cNvPr>
          <p:cNvSpPr txBox="1"/>
          <p:nvPr/>
        </p:nvSpPr>
        <p:spPr>
          <a:xfrm>
            <a:off x="508000" y="1397000"/>
            <a:ext cx="5334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spc="200" dirty="0">
                <a:solidFill>
                  <a:srgbClr val="E84F1C"/>
                </a:solidFill>
                <a:latin typeface="JetBrains Mono"/>
              </a:rPr>
              <a:t>I</a:t>
            </a:r>
            <a:r>
              <a:rPr lang="en-US" sz="1000" b="1" spc="200" dirty="0">
                <a:solidFill>
                  <a:srgbClr val="0F0F12"/>
                </a:solidFill>
                <a:latin typeface="JetBrains Mono"/>
              </a:rPr>
              <a:t>  ·  THE PIVOT 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B3E81-D1BF-D04E-BAB2-D9A4E8584772}"/>
              </a:ext>
            </a:extLst>
          </p:cNvPr>
          <p:cNvSpPr/>
          <p:nvPr/>
        </p:nvSpPr>
        <p:spPr>
          <a:xfrm>
            <a:off x="508000" y="1778000"/>
            <a:ext cx="53340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C7150-03C0-BA48-83A3-1978F22DAD1B}"/>
              </a:ext>
            </a:extLst>
          </p:cNvPr>
          <p:cNvSpPr txBox="1"/>
          <p:nvPr/>
        </p:nvSpPr>
        <p:spPr>
          <a:xfrm>
            <a:off x="508000" y="19812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4FAB5-860E-C54B-8470-23620A4C2E33}"/>
              </a:ext>
            </a:extLst>
          </p:cNvPr>
          <p:cNvSpPr txBox="1"/>
          <p:nvPr/>
        </p:nvSpPr>
        <p:spPr>
          <a:xfrm>
            <a:off x="965200" y="19812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Engineers re-key duct data by hand.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CE9DAA-13A2-844C-8F5C-CC94DFA68019}"/>
              </a:ext>
            </a:extLst>
          </p:cNvPr>
          <p:cNvSpPr txBox="1"/>
          <p:nvPr/>
        </p:nvSpPr>
        <p:spPr>
          <a:xfrm>
            <a:off x="508000" y="23876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5423B-E06C-4143-B12B-C1AEC4171EAB}"/>
              </a:ext>
            </a:extLst>
          </p:cNvPr>
          <p:cNvSpPr txBox="1"/>
          <p:nvPr/>
        </p:nvSpPr>
        <p:spPr>
          <a:xfrm>
            <a:off x="965200" y="23876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One page in. Every duct 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767991-6CF7-294E-88E1-DB31FFB882C8}"/>
              </a:ext>
            </a:extLst>
          </p:cNvPr>
          <p:cNvSpPr txBox="1"/>
          <p:nvPr/>
        </p:nvSpPr>
        <p:spPr>
          <a:xfrm>
            <a:off x="508000" y="27940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37DEC-8BBB-DD4A-B684-18B0852037D8}"/>
              </a:ext>
            </a:extLst>
          </p:cNvPr>
          <p:cNvSpPr txBox="1"/>
          <p:nvPr/>
        </p:nvSpPr>
        <p:spPr>
          <a:xfrm>
            <a:off x="965200" y="27940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Three architectures attempted.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59CB8-8E48-8E48-97F6-CB586F109DD7}"/>
              </a:ext>
            </a:extLst>
          </p:cNvPr>
          <p:cNvSpPr txBox="1"/>
          <p:nvPr/>
        </p:nvSpPr>
        <p:spPr>
          <a:xfrm>
            <a:off x="508000" y="32004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61E1B-99E0-4D49-9156-A8897E3823C0}"/>
              </a:ext>
            </a:extLst>
          </p:cNvPr>
          <p:cNvSpPr txBox="1"/>
          <p:nvPr/>
        </p:nvSpPr>
        <p:spPr>
          <a:xfrm>
            <a:off x="965200" y="32004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V1  ·  One VLM call. Six deterministic stages.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56A7C-01F2-0D41-B95E-AACD6BBE1F23}"/>
              </a:ext>
            </a:extLst>
          </p:cNvPr>
          <p:cNvSpPr txBox="1"/>
          <p:nvPr/>
        </p:nvSpPr>
        <p:spPr>
          <a:xfrm>
            <a:off x="508000" y="36068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DB16EE-E3EE-DE4E-AFE2-590712622DDB}"/>
              </a:ext>
            </a:extLst>
          </p:cNvPr>
          <p:cNvSpPr txBox="1"/>
          <p:nvPr/>
        </p:nvSpPr>
        <p:spPr>
          <a:xfrm>
            <a:off x="965200" y="36068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Why V1 is parked.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397524-E172-DE47-AD28-FEFCE9372798}"/>
              </a:ext>
            </a:extLst>
          </p:cNvPr>
          <p:cNvSpPr txBox="1"/>
          <p:nvPr/>
        </p:nvSpPr>
        <p:spPr>
          <a:xfrm>
            <a:off x="508000" y="40132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E054B-F0A9-A448-9DDA-0A68CC5404D6}"/>
              </a:ext>
            </a:extLst>
          </p:cNvPr>
          <p:cNvSpPr txBox="1"/>
          <p:nvPr/>
        </p:nvSpPr>
        <p:spPr>
          <a:xfrm>
            <a:off x="965200" y="40132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V2  ·  Built. Iterated. Decline observed.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C68A00-0C84-8E44-BB74-FDF47A75EFEB}"/>
              </a:ext>
            </a:extLst>
          </p:cNvPr>
          <p:cNvSpPr txBox="1"/>
          <p:nvPr/>
        </p:nvSpPr>
        <p:spPr>
          <a:xfrm>
            <a:off x="508000" y="4597400"/>
            <a:ext cx="5334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spc="200" dirty="0">
                <a:solidFill>
                  <a:srgbClr val="E84F1C"/>
                </a:solidFill>
                <a:latin typeface="JetBrains Mono"/>
              </a:rPr>
              <a:t>II</a:t>
            </a:r>
            <a:r>
              <a:rPr lang="en-US" sz="1000" b="1" spc="200" dirty="0">
                <a:solidFill>
                  <a:srgbClr val="0F0F12"/>
                </a:solidFill>
                <a:latin typeface="JetBrains Mono"/>
              </a:rPr>
              <a:t>  ·  V3 IN PRODUCTION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E6FF88-0917-3448-9821-2203B26CD3C8}"/>
              </a:ext>
            </a:extLst>
          </p:cNvPr>
          <p:cNvSpPr/>
          <p:nvPr/>
        </p:nvSpPr>
        <p:spPr>
          <a:xfrm>
            <a:off x="508000" y="4978400"/>
            <a:ext cx="53340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448870-EEBE-454B-8FE3-62100046086E}"/>
              </a:ext>
            </a:extLst>
          </p:cNvPr>
          <p:cNvSpPr txBox="1"/>
          <p:nvPr/>
        </p:nvSpPr>
        <p:spPr>
          <a:xfrm>
            <a:off x="508000" y="51816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71EB15-D8FA-C144-9724-5FFBD0334E69}"/>
              </a:ext>
            </a:extLst>
          </p:cNvPr>
          <p:cNvSpPr txBox="1"/>
          <p:nvPr/>
        </p:nvSpPr>
        <p:spPr>
          <a:xfrm>
            <a:off x="965200" y="51816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V3  ·  Replace the model with a click.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74A2-2DA2-A046-987B-B52A66330783}"/>
              </a:ext>
            </a:extLst>
          </p:cNvPr>
          <p:cNvSpPr txBox="1"/>
          <p:nvPr/>
        </p:nvSpPr>
        <p:spPr>
          <a:xfrm>
            <a:off x="508000" y="55880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09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2EB88-BE25-2644-8AA2-4C1BEC74827A}"/>
              </a:ext>
            </a:extLst>
          </p:cNvPr>
          <p:cNvSpPr txBox="1"/>
          <p:nvPr/>
        </p:nvSpPr>
        <p:spPr>
          <a:xfrm>
            <a:off x="965200" y="55880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V3 results  ·  3 of 5 production-quality.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E2C4AE-D15D-6E44-BDA8-D8F74E059AB6}"/>
              </a:ext>
            </a:extLst>
          </p:cNvPr>
          <p:cNvSpPr txBox="1"/>
          <p:nvPr/>
        </p:nvSpPr>
        <p:spPr>
          <a:xfrm>
            <a:off x="508000" y="59944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6EF554-334B-7744-92D5-A8D7B53517D6}"/>
              </a:ext>
            </a:extLst>
          </p:cNvPr>
          <p:cNvSpPr txBox="1"/>
          <p:nvPr/>
        </p:nvSpPr>
        <p:spPr>
          <a:xfrm>
            <a:off x="965200" y="59944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V3  ·  What the user sees.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3B16ED-32EF-994B-89F5-B28C61F02A24}"/>
              </a:ext>
            </a:extLst>
          </p:cNvPr>
          <p:cNvSpPr txBox="1"/>
          <p:nvPr/>
        </p:nvSpPr>
        <p:spPr>
          <a:xfrm>
            <a:off x="6350000" y="1397000"/>
            <a:ext cx="5334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spc="200" dirty="0">
                <a:solidFill>
                  <a:srgbClr val="E84F1C"/>
                </a:solidFill>
                <a:latin typeface="JetBrains Mono"/>
              </a:rPr>
              <a:t>III</a:t>
            </a:r>
            <a:r>
              <a:rPr lang="en-US" sz="1000" b="1" spc="200" dirty="0">
                <a:solidFill>
                  <a:srgbClr val="0F0F12"/>
                </a:solidFill>
                <a:latin typeface="JetBrains Mono"/>
              </a:rPr>
              <a:t>  ·  ROADMAP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AE3FFA-0205-3846-A5E9-1B3E3CC4EF7E}"/>
              </a:ext>
            </a:extLst>
          </p:cNvPr>
          <p:cNvSpPr/>
          <p:nvPr/>
        </p:nvSpPr>
        <p:spPr>
          <a:xfrm>
            <a:off x="6350000" y="1778000"/>
            <a:ext cx="53340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5E6C5A-1AFE-5645-98E1-98A82A821223}"/>
              </a:ext>
            </a:extLst>
          </p:cNvPr>
          <p:cNvSpPr txBox="1"/>
          <p:nvPr/>
        </p:nvSpPr>
        <p:spPr>
          <a:xfrm>
            <a:off x="6350000" y="19812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EDBF1F-C000-1541-94B2-67FC8C68B031}"/>
              </a:ext>
            </a:extLst>
          </p:cNvPr>
          <p:cNvSpPr txBox="1"/>
          <p:nvPr/>
        </p:nvSpPr>
        <p:spPr>
          <a:xfrm>
            <a:off x="6807200" y="19812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Defending the pivots.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76AAFE-7902-A044-AB5C-1DFBA7496A9B}"/>
              </a:ext>
            </a:extLst>
          </p:cNvPr>
          <p:cNvSpPr txBox="1"/>
          <p:nvPr/>
        </p:nvSpPr>
        <p:spPr>
          <a:xfrm>
            <a:off x="6350000" y="23876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BE2969-458B-D043-849A-3C6D61FD4411}"/>
              </a:ext>
            </a:extLst>
          </p:cNvPr>
          <p:cNvSpPr txBox="1"/>
          <p:nvPr/>
        </p:nvSpPr>
        <p:spPr>
          <a:xfrm>
            <a:off x="6807200" y="23876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Production timeline.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52634C-AC90-4148-AF39-F279342BAE37}"/>
              </a:ext>
            </a:extLst>
          </p:cNvPr>
          <p:cNvSpPr txBox="1"/>
          <p:nvPr/>
        </p:nvSpPr>
        <p:spPr>
          <a:xfrm>
            <a:off x="6350000" y="27940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04F5FB-77BF-964D-B60C-93C3AB9BF683}"/>
              </a:ext>
            </a:extLst>
          </p:cNvPr>
          <p:cNvSpPr txBox="1"/>
          <p:nvPr/>
        </p:nvSpPr>
        <p:spPr>
          <a:xfrm>
            <a:off x="6807200" y="27940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Path to full automation.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45848E-35B2-9647-BDBA-12E7977FEF02}"/>
              </a:ext>
            </a:extLst>
          </p:cNvPr>
          <p:cNvSpPr txBox="1"/>
          <p:nvPr/>
        </p:nvSpPr>
        <p:spPr>
          <a:xfrm>
            <a:off x="6350000" y="32004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76A363-95BC-B843-BA96-65D295355D96}"/>
              </a:ext>
            </a:extLst>
          </p:cNvPr>
          <p:cNvSpPr txBox="1"/>
          <p:nvPr/>
        </p:nvSpPr>
        <p:spPr>
          <a:xfrm>
            <a:off x="6807200" y="32004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Track 02  ·  Fine-tuned VLM.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5BA5BA-3F11-AA4F-9B8C-51A1BABD1BCC}"/>
              </a:ext>
            </a:extLst>
          </p:cNvPr>
          <p:cNvSpPr txBox="1"/>
          <p:nvPr/>
        </p:nvSpPr>
        <p:spPr>
          <a:xfrm>
            <a:off x="6350000" y="3784600"/>
            <a:ext cx="5334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 spc="200" dirty="0">
                <a:solidFill>
                  <a:srgbClr val="E84F1C"/>
                </a:solidFill>
                <a:latin typeface="JetBrains Mono"/>
              </a:rPr>
              <a:t>IV</a:t>
            </a:r>
            <a:r>
              <a:rPr lang="en-US" sz="1000" b="1" spc="200" dirty="0">
                <a:solidFill>
                  <a:srgbClr val="0F0F12"/>
                </a:solidFill>
                <a:latin typeface="JetBrains Mono"/>
              </a:rPr>
              <a:t>  ·  DEFENSIBILITY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26D760-46D9-6545-8540-E42ED1AFC7E7}"/>
              </a:ext>
            </a:extLst>
          </p:cNvPr>
          <p:cNvSpPr/>
          <p:nvPr/>
        </p:nvSpPr>
        <p:spPr>
          <a:xfrm>
            <a:off x="6350000" y="4165600"/>
            <a:ext cx="53340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B81FF7-A774-D04F-89B1-48DCA59F38A8}"/>
              </a:ext>
            </a:extLst>
          </p:cNvPr>
          <p:cNvSpPr txBox="1"/>
          <p:nvPr/>
        </p:nvSpPr>
        <p:spPr>
          <a:xfrm>
            <a:off x="6350000" y="4368800"/>
            <a:ext cx="38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1362C1-FCD7-0D4A-9A44-0E21A5CBC2BB}"/>
              </a:ext>
            </a:extLst>
          </p:cNvPr>
          <p:cNvSpPr txBox="1"/>
          <p:nvPr/>
        </p:nvSpPr>
        <p:spPr>
          <a:xfrm>
            <a:off x="6807200" y="4368800"/>
            <a:ext cx="48768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0" spc="-10" dirty="0">
                <a:solidFill>
                  <a:srgbClr val="0F0F12"/>
                </a:solidFill>
                <a:latin typeface="Inter"/>
              </a:rPr>
              <a:t>Three commitments behind the build.</a:t>
            </a:r>
          </a:p>
        </p:txBody>
      </p:sp>
    </p:spTree>
    <p:extLst>
      <p:ext uri="{BB962C8B-B14F-4D97-AF65-F5344CB8AC3E}">
        <p14:creationId xmlns:p14="http://schemas.microsoft.com/office/powerpoint/2010/main" val="263387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 dirty="0">
                <a:solidFill>
                  <a:srgbClr val="8A8A90"/>
                </a:solidFill>
                <a:latin typeface="JetBrains Mono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 dirty="0">
                <a:solidFill>
                  <a:srgbClr val="E84F1C"/>
                </a:solidFill>
                <a:latin typeface="JetBrains Mono"/>
              </a:rPr>
              <a:t>01  ·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 dirty="0">
                <a:solidFill>
                  <a:srgbClr val="0F0F12"/>
                </a:solidFill>
                <a:latin typeface="Inter"/>
              </a:rPr>
              <a:t>Engineers re-key duct data by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 dirty="0">
                <a:solidFill>
                  <a:srgbClr val="3A3A3F"/>
                </a:solidFill>
                <a:latin typeface="Inter"/>
              </a:rPr>
              <a:t>Every drawing. Every job. Across estimating, fab, and as-builts.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2000" b="1" spc="-350" dirty="0">
                <a:solidFill>
                  <a:srgbClr val="0F0F12"/>
                </a:solidFill>
                <a:latin typeface="Inter"/>
              </a:rPr>
              <a:t>8–40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-10">
                <a:solidFill>
                  <a:srgbClr val="3A3A3F"/>
                </a:solidFill>
                <a:latin typeface="Inter"/>
              </a:rPr>
              <a:t>sheets per estimating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dirty="0">
                <a:solidFill>
                  <a:srgbClr val="8A8A90"/>
                </a:solidFill>
                <a:latin typeface="Inter"/>
              </a:rPr>
              <a:t>Each sheet re-typed downstream into pricing models, fabrication
cut lists, and as-built records. No structured pass between formats.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58366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WHO PAYS FOR 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3291840"/>
            <a:ext cx="583661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60" y="3438144"/>
            <a:ext cx="4830775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Estimators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49040"/>
            <a:ext cx="4830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~6–10 hours / project re-keying ducts into pricing sheets.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4375" y="3438144"/>
            <a:ext cx="9144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spc="-30" dirty="0">
                <a:solidFill>
                  <a:srgbClr val="E84F1C"/>
                </a:solidFill>
                <a:latin typeface="JetBrains Mono"/>
              </a:rPr>
              <a:t>12h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4370832"/>
            <a:ext cx="583661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2160" y="4517136"/>
            <a:ext cx="4830775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Fabricators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828032"/>
            <a:ext cx="4830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Re-reading dimensions a second time to build cut lists.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4375" y="4517136"/>
            <a:ext cx="9144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spc="-30">
                <a:solidFill>
                  <a:srgbClr val="E84F1C"/>
                </a:solidFill>
                <a:latin typeface="JetBrains Mono"/>
              </a:rPr>
              <a:t>2×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5449824"/>
            <a:ext cx="583661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2160" y="5596128"/>
            <a:ext cx="4830775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20" dirty="0">
                <a:solidFill>
                  <a:srgbClr val="0F0F12"/>
                </a:solidFill>
                <a:latin typeface="Inter"/>
              </a:rPr>
              <a:t>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907024"/>
            <a:ext cx="4830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As-builts rebuilt from PDFs, then misplaced at audit.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4375" y="5596128"/>
            <a:ext cx="9144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spc="-30">
                <a:solidFill>
                  <a:srgbClr val="E84F1C"/>
                </a:solidFill>
                <a:latin typeface="JetBrains Mono"/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28440"/>
            <a:ext cx="10058400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20" dirty="0">
                <a:solidFill>
                  <a:srgbClr val="0F0F12"/>
                </a:solidFill>
                <a:latin typeface="Inter"/>
              </a:rPr>
              <a:t>The wedge — drawing → structured duct data.</a:t>
            </a:r>
          </a:p>
        </p:txBody>
      </p:sp>
    </p:spTree>
    <p:extLst>
      <p:ext uri="{BB962C8B-B14F-4D97-AF65-F5344CB8AC3E}">
        <p14:creationId xmlns:p14="http://schemas.microsoft.com/office/powerpoint/2010/main" val="637379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02  ·  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 dirty="0">
                <a:solidFill>
                  <a:srgbClr val="0F0F12"/>
                </a:solidFill>
                <a:latin typeface="Inter"/>
              </a:rPr>
              <a:t>One page in. Every duct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Color mask  ·  skeleton  ·  OCR attribution  ·  SMACNA pressure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62072"/>
            <a:ext cx="351525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02152"/>
            <a:ext cx="2875178" cy="35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spc="-30" dirty="0">
                <a:solidFill>
                  <a:srgbClr val="0F0F12"/>
                </a:solidFill>
                <a:latin typeface="Inter"/>
              </a:rPr>
              <a:t>HVAC drawing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50792"/>
            <a:ext cx="287517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Single-page PDF or PNG. Plan view, title block, schedule, legend.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365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PDF · PNG · 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8178" y="2862072"/>
            <a:ext cx="3200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8A8A90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8218" y="2862072"/>
            <a:ext cx="3515258" cy="2377440"/>
          </a:xfrm>
          <a:prstGeom prst="roundRect">
            <a:avLst>
              <a:gd name="adj" fmla="val 4000"/>
            </a:avLst>
          </a:prstGeom>
          <a:solidFill>
            <a:srgbClr val="0F0F12"/>
          </a:solidFill>
          <a:ln w="9525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8258" y="31363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FDEADC"/>
                </a:solidFill>
                <a:latin typeface="JetBrains Mono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8258" y="3502152"/>
            <a:ext cx="2875178" cy="35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spc="-30" dirty="0">
                <a:solidFill>
                  <a:srgbClr val="FFFFFF"/>
                </a:solidFill>
                <a:latin typeface="Inter"/>
              </a:rPr>
              <a:t>Deterministic 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8258" y="4050792"/>
            <a:ext cx="287517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Color mask  ·  skeleton  ·  OCR token attribution. No LLM in the hot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8258" y="47365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FDEADC"/>
                </a:solidFill>
                <a:latin typeface="JetBrains Mono"/>
              </a:rPr>
              <a:t>REASONING TRACE PER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3476" y="2862072"/>
            <a:ext cx="3200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8A8A90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3516" y="2862072"/>
            <a:ext cx="3515258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93556" y="31363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3556" y="3502152"/>
            <a:ext cx="2875178" cy="35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spc="-30">
                <a:solidFill>
                  <a:srgbClr val="0F0F12"/>
                </a:solidFill>
                <a:latin typeface="Inter"/>
              </a:rPr>
              <a:t>Duct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3556" y="4050792"/>
            <a:ext cx="287517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Geometry  ·  dim  ·  pressure class  ·  confidence  ·  evidence. One JSON per segment.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3556" y="4736592"/>
            <a:ext cx="287517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COST · CUT LISTS · AS-BUILTS</a:t>
            </a: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502920" y="57150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949900"/>
            <a:ext cx="73152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Five benchmark drawings  ·  color-coded outlines  ·  parallel-wall plans.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1175" y="5949900"/>
            <a:ext cx="36576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50" dirty="0">
                <a:solidFill>
                  <a:srgbClr val="E84F1C"/>
                </a:solidFill>
                <a:latin typeface="JetBrains Mono"/>
              </a:rPr>
              <a:t>NO LLM IN THE HOT PATH  ·  FULLY ON-PREM</a:t>
            </a:r>
          </a:p>
        </p:txBody>
      </p:sp>
    </p:spTree>
    <p:extLst>
      <p:ext uri="{BB962C8B-B14F-4D97-AF65-F5344CB8AC3E}">
        <p14:creationId xmlns:p14="http://schemas.microsoft.com/office/powerpoint/2010/main" val="2039524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03  ·  ARCHITECTURE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Three architectures attempted.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The order matters — V3 looks the way it does because of what V1 and V2 surfaced.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0"/>
            <a:ext cx="3606698" cy="3124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50">
                <a:solidFill>
                  <a:srgbClr val="0F0F12"/>
                </a:solidFill>
                <a:latin typeface="Inter"/>
              </a:rPr>
              <a:t>V1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9458" y="325526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29458" y="325526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150">
                <a:solidFill>
                  <a:srgbClr val="8A8A90"/>
                </a:solidFill>
                <a:latin typeface="JetBrains Mono"/>
              </a:rPr>
              <a:t>PARKED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2966618" cy="294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pc="-30" dirty="0">
                <a:solidFill>
                  <a:srgbClr val="0F0F12"/>
                </a:solidFill>
                <a:latin typeface="Inter"/>
              </a:rPr>
              <a:t>Hybrid VLM + 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296661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VLM region detection + deterministic refinement. Seven stages.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016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080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7898" y="5080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Yes — end to 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53340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3975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7898" y="53975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11B vision 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5651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715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7898" y="5715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Structural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2498" y="2926080"/>
            <a:ext cx="3606698" cy="3124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2538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50">
                <a:solidFill>
                  <a:srgbClr val="0F0F12"/>
                </a:solidFill>
                <a:latin typeface="Inter"/>
              </a:rPr>
              <a:t>V2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19036" y="325526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D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9036" y="325526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150">
                <a:solidFill>
                  <a:srgbClr val="B45309"/>
                </a:solidFill>
                <a:latin typeface="JetBrains Mono"/>
              </a:rPr>
              <a:t>PARKED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2538" y="3794760"/>
            <a:ext cx="2966618" cy="294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pc="-30">
                <a:solidFill>
                  <a:srgbClr val="0F0F12"/>
                </a:solidFill>
                <a:latin typeface="Inter"/>
              </a:rPr>
              <a:t>Reviewer + Tiled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2538" y="4206240"/>
            <a:ext cx="296661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Page categorizer, tiled VLM calls, neighbour context, reviewer loop.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12538" y="5016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2538" y="5080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BUILT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7476" y="5080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Yes — full loop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12538" y="53340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12538" y="53975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7476" y="53975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Layers compensate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2538" y="5651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12538" y="5715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7476" y="5715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Decline observed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82076" y="2926080"/>
            <a:ext cx="3606698" cy="3124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02116" y="3200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50">
                <a:solidFill>
                  <a:srgbClr val="0F0F12"/>
                </a:solidFill>
                <a:latin typeface="Inter"/>
              </a:rPr>
              <a:t>V3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08614" y="325526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08614" y="325526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150">
                <a:solidFill>
                  <a:srgbClr val="156F36"/>
                </a:solidFill>
                <a:latin typeface="JetBrains Mono"/>
              </a:rPr>
              <a:t>SHIPPING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2116" y="3794760"/>
            <a:ext cx="2966618" cy="294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pc="-30">
                <a:solidFill>
                  <a:srgbClr val="0F0F12"/>
                </a:solidFill>
                <a:latin typeface="Inter"/>
              </a:rPr>
              <a:t>Color-driven CV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2116" y="4206240"/>
            <a:ext cx="296661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User picks duct color. HSV mask → skeleton → OCR → SMACNA. No VLM.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02116" y="5016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02116" y="5080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BUILT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57054" y="5080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Live  ·  iterative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02116" y="53340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402116" y="53975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BET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7054" y="53975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Skip the model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02116" y="5651500"/>
            <a:ext cx="2966618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02116" y="57150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50">
                <a:solidFill>
                  <a:srgbClr val="8A8A90"/>
                </a:solidFill>
                <a:latin typeface="JetBrains Mono"/>
              </a:rPr>
              <a:t>RESULT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57054" y="57150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3 / 5 production</a:t>
            </a:r>
          </a:p>
        </p:txBody>
      </p:sp>
    </p:spTree>
    <p:extLst>
      <p:ext uri="{BB962C8B-B14F-4D97-AF65-F5344CB8AC3E}">
        <p14:creationId xmlns:p14="http://schemas.microsoft.com/office/powerpoint/2010/main" val="427307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04  ·  V1  ·  HYBRID VLM +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One VLM call. Six deterministic stages.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The bet was a single agent stage gated by typed tool calls — everything else algorithmic.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 dirty="0">
                <a:solidFill>
                  <a:srgbClr val="0F0F12"/>
                </a:solidFill>
                <a:latin typeface="Inter"/>
              </a:rPr>
              <a:t>Ingest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6283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283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6574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16574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6574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39937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39937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30228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228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228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 dirty="0">
                <a:solidFill>
                  <a:srgbClr val="0F0F12"/>
                </a:solidFill>
                <a:latin typeface="Inter"/>
              </a:rPr>
              <a:t>Region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3591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3591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3882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0F0F12"/>
          </a:solidFill>
          <a:ln w="1270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3882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FDEADC"/>
                </a:solidFill>
                <a:latin typeface="JetBrain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3882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>
                <a:solidFill>
                  <a:srgbClr val="FFFFFF"/>
                </a:solidFill>
                <a:latin typeface="Inter"/>
              </a:rPr>
              <a:t>Detect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7245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67245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FFFFFF"/>
                </a:solidFill>
                <a:latin typeface="JetBrains Mono"/>
              </a:rPr>
              <a:t>AGT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57536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57536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7536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Extract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0899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80899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1190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71190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1190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Classify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4553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4553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WF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84844" y="2931160"/>
            <a:ext cx="150392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84844" y="3095752"/>
            <a:ext cx="150392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4844" y="3473200"/>
            <a:ext cx="1503926" cy="196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20">
                <a:solidFill>
                  <a:srgbClr val="0F0F12"/>
                </a:solidFill>
                <a:latin typeface="Inter"/>
              </a:rPr>
              <a:t>Assemble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08207" y="37998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08207" y="37998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275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0F0F12"/>
                </a:solidFill>
                <a:latin typeface="Inter"/>
              </a:rPr>
              <a:t>Detect is the only agent stage.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05095" y="42844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05095" y="42844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8A8A90"/>
                </a:solidFill>
                <a:latin typeface="JetBrains Mono"/>
              </a:rPr>
              <a:t>ALG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53735" y="42697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algorithmic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16775" y="42844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D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16775" y="42844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E84F1C"/>
                </a:solidFill>
                <a:latin typeface="JetBrains Mono"/>
              </a:rPr>
              <a:t>AGT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5415" y="42697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agent  ·  VLM tool call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59975" y="428447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59975" y="428447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8A8A90"/>
                </a:solidFill>
                <a:latin typeface="JetBrains Mono"/>
              </a:rPr>
              <a:t>WF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8615" y="42697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workflow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120640"/>
            <a:ext cx="5455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THE BET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394960"/>
            <a:ext cx="54557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An open-source 11B vision model emits structured duct bboxes; OpenCV refines geometry. CV-only fallback if the call fails.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3007" y="5120640"/>
            <a:ext cx="5455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WHAT SURVIVES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007" y="5394960"/>
            <a:ext cx="54557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VLMClient Protocol + DetectDuctsTool typed schema. ADR-0002 — switching to a frontier model is a config flip.</a:t>
            </a:r>
          </a:p>
        </p:txBody>
      </p:sp>
    </p:spTree>
    <p:extLst>
      <p:ext uri="{BB962C8B-B14F-4D97-AF65-F5344CB8AC3E}">
        <p14:creationId xmlns:p14="http://schemas.microsoft.com/office/powerpoint/2010/main" val="1709839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05  ·  WHY V1 IS PARKED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The bet was the VLM. It didn’t pay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Five-drawing benchmark. Failure modes are structural, not bugs.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97756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97756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797756"/>
            <a:ext cx="47850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ROOT CAUSE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090364"/>
            <a:ext cx="11185855" cy="0"/>
          </a:xfrm>
          <a:prstGeom prst="line">
            <a:avLst/>
          </a:prstGeom>
          <a:ln w="12700">
            <a:solidFill>
              <a:srgbClr val="0F0F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329409"/>
            <a:ext cx="3840480" cy="2168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spc="-10" dirty="0">
                <a:solidFill>
                  <a:srgbClr val="0F0F12"/>
                </a:solidFill>
                <a:latin typeface="Inter"/>
              </a:rPr>
              <a:t>Malformed JSON from VLM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37382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26280" y="3373828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A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25495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A81E1E"/>
                </a:solidFill>
                <a:latin typeface="JetBrains Mono"/>
              </a:rPr>
              <a:t>4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20477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11B vision models can’t reliably emit structured JSON.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3776164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896337"/>
            <a:ext cx="3840480" cy="2168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spc="-10" dirty="0">
                <a:solidFill>
                  <a:srgbClr val="0F0F12"/>
                </a:solidFill>
                <a:latin typeface="Inter"/>
              </a:rPr>
              <a:t>Hallucinated regular-grid </a:t>
            </a:r>
            <a:r>
              <a:rPr sz="1200" spc="-10" dirty="0" err="1">
                <a:solidFill>
                  <a:srgbClr val="0F0F12"/>
                </a:solidFill>
                <a:latin typeface="Inter"/>
              </a:rPr>
              <a:t>bboxes</a:t>
            </a:r>
            <a:endParaRPr sz="1200" spc="-10" dirty="0">
              <a:solidFill>
                <a:srgbClr val="0F0F12"/>
              </a:solidFill>
              <a:latin typeface="Inter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26280" y="3940756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26280" y="3940756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A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82188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A81E1E"/>
                </a:solidFill>
                <a:latin typeface="JetBrains Mono"/>
              </a:rPr>
              <a:t>2 /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7170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Model parrots its training-distribution prior — web charts.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343092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4463265"/>
            <a:ext cx="3840480" cy="2168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spc="-10" dirty="0">
                <a:solidFill>
                  <a:srgbClr val="0F0F12"/>
                </a:solidFill>
                <a:latin typeface="Inter"/>
              </a:rPr>
              <a:t>Ollama timeout (≥ 3 min)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507684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26280" y="450768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3888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B45309"/>
                </a:solidFill>
                <a:latin typeface="JetBrains Mono"/>
              </a:rPr>
              <a:t>1 /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338628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Vision pass exceeds soft latency budget on commodity hardware.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910020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5030193"/>
            <a:ext cx="3840480" cy="2168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spc="-10" dirty="0">
                <a:solidFill>
                  <a:srgbClr val="0F0F12"/>
                </a:solidFill>
                <a:latin typeface="Inter"/>
              </a:rPr>
              <a:t>CV fallback over-recalls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507461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26280" y="507461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A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9557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A81E1E"/>
                </a:solidFill>
                <a:latin typeface="JetBrains Mono"/>
              </a:rPr>
              <a:t>5 /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905556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HoughLinesP fires on walls, columns, gridlines without OCR gating.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5476948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920" y="557784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1D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790387"/>
            <a:ext cx="10454335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20" dirty="0">
                <a:solidFill>
                  <a:srgbClr val="0F0F12"/>
                </a:solidFill>
                <a:latin typeface="Inter"/>
              </a:rPr>
              <a:t>On-prem  ×  open-source VLM  =  unwinnable today.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6046727"/>
            <a:ext cx="10454335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A5A60"/>
                </a:solidFill>
                <a:latin typeface="Inter"/>
              </a:rPr>
              <a:t>11B isn’t enough  ·  90B is too slow on commodity hardware  ·  frontier proprietary can’t run on-prem.</a:t>
            </a:r>
          </a:p>
        </p:txBody>
      </p:sp>
    </p:spTree>
    <p:extLst>
      <p:ext uri="{BB962C8B-B14F-4D97-AF65-F5344CB8AC3E}">
        <p14:creationId xmlns:p14="http://schemas.microsoft.com/office/powerpoint/2010/main" val="126099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06  ·  V2  ·  REVIEWER + TILED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Built. Iterated. Decline observed.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V2 added the layers V1 was missing. Accuracy went down. Latency went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57794"/>
            <a:ext cx="54100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WHAT V2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32114"/>
            <a:ext cx="54100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Designed enhancements, fully built on V1.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535034"/>
            <a:ext cx="5410200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 dirty="0">
                <a:solidFill>
                  <a:srgbClr val="0F0F12"/>
                </a:solidFill>
                <a:latin typeface="Inter"/>
              </a:rPr>
              <a:t>Page categorizer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754490"/>
            <a:ext cx="541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Plan view  ·  schedule  · 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152900"/>
            <a:ext cx="5410200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Tiled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368154"/>
            <a:ext cx="541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1100 </a:t>
            </a:r>
            <a:r>
              <a:rPr sz="1050" b="0" dirty="0" err="1">
                <a:solidFill>
                  <a:srgbClr val="3A3A3F"/>
                </a:solidFill>
                <a:latin typeface="Inter"/>
              </a:rPr>
              <a:t>px</a:t>
            </a:r>
            <a:r>
              <a:rPr sz="1050" b="0" dirty="0">
                <a:solidFill>
                  <a:srgbClr val="3A3A3F"/>
                </a:solidFill>
                <a:latin typeface="Inter"/>
              </a:rPr>
              <a:t> tiles  ·  15% overlap  ·  trail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762500"/>
            <a:ext cx="5410200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Reviewer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981818"/>
            <a:ext cx="541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A3F"/>
                </a:solidFill>
                <a:latin typeface="Inter"/>
              </a:rPr>
              <a:t>Second-pass critique on low-confidence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372100"/>
            <a:ext cx="5410200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Legend 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5595482"/>
            <a:ext cx="541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A3F"/>
                </a:solidFill>
                <a:latin typeface="Inter"/>
              </a:rPr>
              <a:t>Symbols + abbrevs grounded into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5981700"/>
            <a:ext cx="5410200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Smart per-tile DPI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196446"/>
            <a:ext cx="541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A3F"/>
                </a:solidFill>
                <a:latin typeface="Inter"/>
              </a:rPr>
              <a:t>Re-render so dim text reaches OCR-readable size.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727" y="2757794"/>
            <a:ext cx="54100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WHAT WE OBSERVED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3032114"/>
            <a:ext cx="54100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Each new VLM call added new failure surface.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3626474"/>
            <a:ext cx="5410047" cy="2768600"/>
          </a:xfrm>
          <a:prstGeom prst="roundRect">
            <a:avLst>
              <a:gd name="adj" fmla="val 4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4000" y="3759200"/>
            <a:ext cx="477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END-TO-END ATTRIBUTION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937000"/>
            <a:ext cx="1397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70">
                <a:solidFill>
                  <a:srgbClr val="A81E1E"/>
                </a:solidFill>
                <a:latin typeface="Inter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0" y="4114800"/>
            <a:ext cx="325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on 3 / 5 drawings vs V1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04000" y="4546600"/>
            <a:ext cx="47752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04000" y="4648200"/>
            <a:ext cx="477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PER-DRAWING LATENCY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4000" y="4826000"/>
            <a:ext cx="1397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70" dirty="0">
                <a:solidFill>
                  <a:srgbClr val="A81E1E"/>
                </a:solidFill>
                <a:latin typeface="Inter"/>
              </a:rPr>
              <a:t>+8–14×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8000" y="5003800"/>
            <a:ext cx="325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30 s → 4–7 minutes (page-tiled)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04000" y="5435600"/>
            <a:ext cx="47752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04000" y="5537200"/>
            <a:ext cx="477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REVIEWER-LOOP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4000" y="5715000"/>
            <a:ext cx="1397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70">
                <a:solidFill>
                  <a:srgbClr val="B45309"/>
                </a:solidFill>
                <a:latin typeface="Inter"/>
              </a:rPr>
              <a:t>≈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8000" y="5892800"/>
            <a:ext cx="325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no precision lift; oscillates</a:t>
            </a:r>
          </a:p>
        </p:txBody>
      </p:sp>
      <p:sp>
        <p:nvSpPr>
          <p:cNvPr id="47" name="LeftRule">
            <a:extLst>
              <a:ext uri="{FF2B5EF4-FFF2-40B4-BE49-F238E27FC236}">
                <a16:creationId xmlns:a16="http://schemas.microsoft.com/office/drawing/2014/main" id="{4E8DDEC0-D32C-BC47-94B5-5B3AF4AD7FEE}"/>
              </a:ext>
            </a:extLst>
          </p:cNvPr>
          <p:cNvSpPr/>
          <p:nvPr/>
        </p:nvSpPr>
        <p:spPr>
          <a:xfrm>
            <a:off x="508000" y="4036725"/>
            <a:ext cx="5184000" cy="5773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LeftRule">
            <a:extLst>
              <a:ext uri="{FF2B5EF4-FFF2-40B4-BE49-F238E27FC236}">
                <a16:creationId xmlns:a16="http://schemas.microsoft.com/office/drawing/2014/main" id="{2D3CE0D8-EF76-F84D-9337-C223A886EAA5}"/>
              </a:ext>
            </a:extLst>
          </p:cNvPr>
          <p:cNvSpPr/>
          <p:nvPr/>
        </p:nvSpPr>
        <p:spPr>
          <a:xfrm>
            <a:off x="508000" y="4646325"/>
            <a:ext cx="5184000" cy="5773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LeftRule">
            <a:extLst>
              <a:ext uri="{FF2B5EF4-FFF2-40B4-BE49-F238E27FC236}">
                <a16:creationId xmlns:a16="http://schemas.microsoft.com/office/drawing/2014/main" id="{4DB6517E-7966-7247-9B85-48BD3CCB39FB}"/>
              </a:ext>
            </a:extLst>
          </p:cNvPr>
          <p:cNvSpPr/>
          <p:nvPr/>
        </p:nvSpPr>
        <p:spPr>
          <a:xfrm>
            <a:off x="508000" y="5255925"/>
            <a:ext cx="5184000" cy="5773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LeftRule">
            <a:extLst>
              <a:ext uri="{FF2B5EF4-FFF2-40B4-BE49-F238E27FC236}">
                <a16:creationId xmlns:a16="http://schemas.microsoft.com/office/drawing/2014/main" id="{3F5E48CB-FD35-1A49-A4E6-56D77F13C8B5}"/>
              </a:ext>
            </a:extLst>
          </p:cNvPr>
          <p:cNvSpPr/>
          <p:nvPr/>
        </p:nvSpPr>
        <p:spPr>
          <a:xfrm>
            <a:off x="508000" y="5865525"/>
            <a:ext cx="5184000" cy="5773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0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07  ·  V3  ·  COLOR-DRIVEN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Replace the model with a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The user already knows which lines are ducts — they’re color-coded. Don’t ask the VLM to redo work the engineer already did.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" y="31587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Color pick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Click duct color.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6574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1166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1166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HSV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1166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Flood-fill interior.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228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94820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4820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Skeleton + DT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4820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Centerline · half-width.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3882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08474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8474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OCR + regex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8474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AxB · A″Ø · CFM.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57536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2128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2128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2128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Token → its duct.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71190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35782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5782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Calibrate ppu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5782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Histogram of pix/in.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84844" y="2994151"/>
            <a:ext cx="1503926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49436" y="3158743"/>
            <a:ext cx="117474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9436" y="3497071"/>
            <a:ext cx="11747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-20">
                <a:solidFill>
                  <a:srgbClr val="0F0F12"/>
                </a:solidFill>
                <a:latin typeface="Inter"/>
              </a:rPr>
              <a:t>SMACNA class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9436" y="3862831"/>
            <a:ext cx="11747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3A3A3F"/>
                </a:solidFill>
                <a:latin typeface="Inter"/>
              </a:rPr>
              <a:t>Pressure when flow present.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822950"/>
            <a:ext cx="5455767" cy="1577849"/>
          </a:xfrm>
          <a:prstGeom prst="roundRect">
            <a:avLst>
              <a:gd name="adj" fmla="val 4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051551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8A8A90"/>
                </a:solidFill>
                <a:latin typeface="JetBrains Mono"/>
              </a:rPr>
              <a:t>THE TRADE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25871"/>
            <a:ext cx="47242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30">
                <a:solidFill>
                  <a:srgbClr val="0F0F12"/>
                </a:solidFill>
                <a:latin typeface="Inter"/>
              </a:rPr>
              <a:t>One click per duct 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37351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Color-coded plans dominate commercial sets. Schedules cite the same legend.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3007" y="4822950"/>
            <a:ext cx="5455767" cy="1577849"/>
          </a:xfrm>
          <a:prstGeom prst="roundRect">
            <a:avLst>
              <a:gd name="adj" fmla="val 4000"/>
            </a:avLst>
          </a:prstGeom>
          <a:solidFill>
            <a:srgbClr val="FDF1D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98767" y="5051551"/>
            <a:ext cx="4724247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THE WIN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8767" y="5325871"/>
            <a:ext cx="4724247" cy="326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30">
                <a:solidFill>
                  <a:srgbClr val="0F0F12"/>
                </a:solidFill>
                <a:latin typeface="Inter"/>
              </a:rPr>
              <a:t>Real results today.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8767" y="5737351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60"/>
                </a:solidFill>
                <a:latin typeface="Inter"/>
              </a:rPr>
              <a:t>3 of 5 benchmark drawings produce trustworthy widths in &lt; 5 seconds per page.</a:t>
            </a:r>
          </a:p>
        </p:txBody>
      </p:sp>
    </p:spTree>
    <p:extLst>
      <p:ext uri="{BB962C8B-B14F-4D97-AF65-F5344CB8AC3E}">
        <p14:creationId xmlns:p14="http://schemas.microsoft.com/office/powerpoint/2010/main" val="301405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08  ·  V3 RESULTS  ·  5-DRAWING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3 of 5 production-quality. 2 of 5 partial.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Pixel-width accuracy split by drawing convention. Numbers are segments correctly attributed.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060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CONVENTION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060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606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606040"/>
            <a:ext cx="20418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WIDTH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2898648"/>
            <a:ext cx="11185855" cy="0"/>
          </a:xfrm>
          <a:prstGeom prst="line">
            <a:avLst/>
          </a:prstGeom>
          <a:ln w="12700">
            <a:solidFill>
              <a:srgbClr val="0F0F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192421"/>
            <a:ext cx="3291840" cy="198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-10" dirty="0">
                <a:solidFill>
                  <a:srgbClr val="0F0F12"/>
                </a:solidFill>
                <a:latin typeface="Inter"/>
              </a:rPr>
              <a:t>01  ·  </a:t>
            </a:r>
            <a:r>
              <a:rPr sz="1100" spc="-10" dirty="0" err="1">
                <a:solidFill>
                  <a:srgbClr val="0F0F12"/>
                </a:solidFill>
                <a:latin typeface="Inter"/>
              </a:rPr>
              <a:t>afdb</a:t>
            </a:r>
            <a:r>
              <a:rPr sz="1100" spc="-10" dirty="0">
                <a:solidFill>
                  <a:srgbClr val="0F0F12"/>
                </a:solidFill>
                <a:latin typeface="Inter"/>
              </a:rPr>
              <a:t>-clean-cad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108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Saturated colored outlines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18211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318211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0F0F12"/>
                </a:solidFill>
                <a:latin typeface="JetBrains Mono"/>
              </a:rPr>
              <a:t>OUTLINE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-10">
                <a:solidFill>
                  <a:srgbClr val="0F0F12"/>
                </a:solidFill>
                <a:latin typeface="JetBrains Mono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063240"/>
            <a:ext cx="1584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50">
                <a:solidFill>
                  <a:srgbClr val="156F36"/>
                </a:solidFill>
                <a:latin typeface="JetBrains Mono"/>
              </a:rPr>
              <a:t>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3291840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46920" y="3291840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156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529584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704485"/>
            <a:ext cx="3291840" cy="198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-10">
                <a:solidFill>
                  <a:srgbClr val="0F0F12"/>
                </a:solidFill>
                <a:latin typeface="Inter"/>
              </a:rPr>
              <a:t>02  ·  newwest-mixed-trades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62102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Black closed outlines + callouts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369417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69417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0F0F12"/>
                </a:solidFill>
                <a:latin typeface="JetBrains Mono"/>
              </a:rPr>
              <a:t>OUTLINE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6210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-10">
                <a:solidFill>
                  <a:srgbClr val="0F0F12"/>
                </a:solidFill>
                <a:latin typeface="JetBrains Mono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575304"/>
            <a:ext cx="1584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50">
                <a:solidFill>
                  <a:srgbClr val="156F36"/>
                </a:solidFill>
                <a:latin typeface="JetBrains Mono"/>
              </a:rPr>
              <a:t> 90%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3803904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46920" y="3803904"/>
            <a:ext cx="1426189" cy="146304"/>
          </a:xfrm>
          <a:prstGeom prst="roundRect">
            <a:avLst>
              <a:gd name="adj" fmla="val 50000"/>
            </a:avLst>
          </a:prstGeom>
          <a:solidFill>
            <a:srgbClr val="156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02920" y="4041648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4216549"/>
            <a:ext cx="3291840" cy="198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-10">
                <a:solidFill>
                  <a:srgbClr val="0F0F12"/>
                </a:solidFill>
                <a:latin typeface="Inter"/>
              </a:rPr>
              <a:t>03  ·  caddsultants-shop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1330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Saturated colored outlines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42062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78040" y="420624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0F0F12"/>
                </a:solidFill>
                <a:latin typeface="JetBrains Mono"/>
              </a:rPr>
              <a:t>OUTLINE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41330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-10">
                <a:solidFill>
                  <a:srgbClr val="0F0F12"/>
                </a:solidFill>
                <a:latin typeface="JetBrains Mono"/>
              </a:rPr>
              <a:t>35–60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087368"/>
            <a:ext cx="1584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50">
                <a:solidFill>
                  <a:srgbClr val="156F36"/>
                </a:solidFill>
                <a:latin typeface="JetBrains Mono"/>
              </a:rPr>
              <a:t> 85%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4315968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646920" y="4315968"/>
            <a:ext cx="1346956" cy="146304"/>
          </a:xfrm>
          <a:prstGeom prst="roundRect">
            <a:avLst>
              <a:gd name="adj" fmla="val 50000"/>
            </a:avLst>
          </a:prstGeom>
          <a:solidFill>
            <a:srgbClr val="156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502920" y="4553712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4728613"/>
            <a:ext cx="3291840" cy="198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-10">
                <a:solidFill>
                  <a:srgbClr val="0F0F12"/>
                </a:solidFill>
                <a:latin typeface="Inter"/>
              </a:rPr>
              <a:t>04  ·  asc2018-bid-set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6451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Parallel-wall dark ducts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78040" y="471830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D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78040" y="471830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B45309"/>
                </a:solidFill>
                <a:latin typeface="JetBrains Mono"/>
              </a:rPr>
              <a:t>CENTERLINE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64515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-10">
                <a:solidFill>
                  <a:srgbClr val="0F0F12"/>
                </a:solidFill>
                <a:latin typeface="JetBrains Mono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599432"/>
            <a:ext cx="1584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50">
                <a:solidFill>
                  <a:srgbClr val="B45309"/>
                </a:solidFill>
                <a:latin typeface="JetBrains Mono"/>
              </a:rPr>
              <a:t>attr ok · width 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46920" y="4828032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646920" y="4828032"/>
            <a:ext cx="633862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502920" y="5065776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5240677"/>
            <a:ext cx="3291840" cy="198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-10">
                <a:solidFill>
                  <a:srgbClr val="0F0F12"/>
                </a:solidFill>
                <a:latin typeface="Inter"/>
              </a:rPr>
              <a:t>05  ·  federal-attachment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515721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Parallel-wall dark ducts (dense)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523036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D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78040" y="523036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150">
                <a:solidFill>
                  <a:srgbClr val="B45309"/>
                </a:solidFill>
                <a:latin typeface="JetBrains Mono"/>
              </a:rPr>
              <a:t>CENTERLINE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515721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-10">
                <a:solidFill>
                  <a:srgbClr val="0F0F12"/>
                </a:solidFill>
                <a:latin typeface="JetBrains Mono"/>
              </a:rPr>
              <a:t>58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5111496"/>
            <a:ext cx="1584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spc="50">
                <a:solidFill>
                  <a:srgbClr val="B45309"/>
                </a:solidFill>
                <a:latin typeface="JetBrains Mono"/>
              </a:rPr>
              <a:t>attr ok · width 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46920" y="5340096"/>
            <a:ext cx="1584655" cy="146304"/>
          </a:xfrm>
          <a:prstGeom prst="roundRect">
            <a:avLst>
              <a:gd name="adj" fmla="val 50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646920" y="5340096"/>
            <a:ext cx="633862" cy="14630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>
            <a:off x="502920" y="5577840"/>
            <a:ext cx="11185855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02920" y="5715000"/>
            <a:ext cx="11185855" cy="853068"/>
          </a:xfrm>
          <a:prstGeom prst="roundRect">
            <a:avLst>
              <a:gd name="adj" fmla="val 4000"/>
            </a:avLst>
          </a:prstGeom>
          <a:solidFill>
            <a:srgbClr val="FD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5951577"/>
            <a:ext cx="10454335" cy="1797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20" dirty="0">
                <a:solidFill>
                  <a:srgbClr val="B45309"/>
                </a:solidFill>
                <a:latin typeface="Inter"/>
              </a:rPr>
              <a:t>Drawings 04 – 05 attribute correctly  ·  pixel-width fails.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6063570"/>
            <a:ext cx="104543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On parallel-wall plans, mask thickness is dilation, not duct gap. Closed by OCR-anchored Pattern A (M1–M2).</a:t>
            </a:r>
          </a:p>
        </p:txBody>
      </p:sp>
    </p:spTree>
    <p:extLst>
      <p:ext uri="{BB962C8B-B14F-4D97-AF65-F5344CB8AC3E}">
        <p14:creationId xmlns:p14="http://schemas.microsoft.com/office/powerpoint/2010/main" val="409361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09  ·  V3  ·  WHAT THE USER 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Pick a color. Get a result. Click for the trace.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 dirty="0">
                <a:solidFill>
                  <a:srgbClr val="3A3A3F"/>
                </a:solidFill>
                <a:latin typeface="Inter"/>
              </a:rPr>
              <a:t>Reasoning surfaced in-line. Cursor magnifier  ·  140 </a:t>
            </a:r>
            <a:r>
              <a:rPr sz="1500" b="0" spc="-10" dirty="0" err="1">
                <a:solidFill>
                  <a:srgbClr val="3A3A3F"/>
                </a:solidFill>
                <a:latin typeface="Inter"/>
              </a:rPr>
              <a:t>px</a:t>
            </a:r>
            <a:r>
              <a:rPr sz="1500" b="0" spc="-10" dirty="0">
                <a:solidFill>
                  <a:srgbClr val="3A3A3F"/>
                </a:solidFill>
                <a:latin typeface="Inter"/>
              </a:rPr>
              <a:t>  ·  6× zoom. Per-segment cards: dim, pressure class,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8" y="2706624"/>
            <a:ext cx="6623999" cy="3456432"/>
          </a:xfrm>
          <a:prstGeom prst="roundRect">
            <a:avLst>
              <a:gd name="adj" fmla="val 2000"/>
            </a:avLst>
          </a:prstGeom>
          <a:solidFill>
            <a:srgbClr val="E3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v3_ui_04_resul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6561378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15922" y="2743200"/>
            <a:ext cx="32305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LIVE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5922" y="3136840"/>
            <a:ext cx="3230574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 dirty="0">
                <a:solidFill>
                  <a:srgbClr val="0F0F12"/>
                </a:solidFill>
                <a:latin typeface="Inter"/>
              </a:rPr>
              <a:t>Color picker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5921" y="3309680"/>
            <a:ext cx="3590693" cy="20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User clicks a duct color in the legend or on the plan.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15921" y="3636856"/>
            <a:ext cx="35280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15922" y="3740344"/>
            <a:ext cx="3230574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5921" y="3913184"/>
            <a:ext cx="3656149" cy="20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Transparent PNG masks rendered over the page.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15921" y="4240360"/>
            <a:ext cx="35280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15922" y="4343848"/>
            <a:ext cx="3230574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Segment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5922" y="4516688"/>
            <a:ext cx="3502598" cy="20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Dim · pressure class · confidence per duct.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15921" y="4843864"/>
            <a:ext cx="35280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15922" y="4947352"/>
            <a:ext cx="3230574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Reasoning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5922" y="5120192"/>
            <a:ext cx="3656148" cy="20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Click any segment for attribution rule + </a:t>
            </a:r>
            <a:r>
              <a:rPr sz="1050" b="0" dirty="0" err="1">
                <a:solidFill>
                  <a:srgbClr val="3A3A3F"/>
                </a:solidFill>
                <a:latin typeface="Inter"/>
              </a:rPr>
              <a:t>ppu</a:t>
            </a:r>
            <a:r>
              <a:rPr sz="1050" b="0" dirty="0">
                <a:solidFill>
                  <a:srgbClr val="3A3A3F"/>
                </a:solidFill>
                <a:latin typeface="Inter"/>
              </a:rPr>
              <a:t> source.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5921" y="5447368"/>
            <a:ext cx="35280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15922" y="5550856"/>
            <a:ext cx="3230574" cy="171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20">
                <a:solidFill>
                  <a:srgbClr val="0F0F12"/>
                </a:solidFill>
                <a:latin typeface="Inter"/>
              </a:rPr>
              <a:t>Magnifier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5922" y="5723696"/>
            <a:ext cx="3656148" cy="20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140 </a:t>
            </a:r>
            <a:r>
              <a:rPr sz="1050" b="0" dirty="0" err="1">
                <a:solidFill>
                  <a:srgbClr val="3A3A3F"/>
                </a:solidFill>
                <a:latin typeface="Inter"/>
              </a:rPr>
              <a:t>px</a:t>
            </a:r>
            <a:r>
              <a:rPr sz="1050" b="0" dirty="0">
                <a:solidFill>
                  <a:srgbClr val="3A3A3F"/>
                </a:solidFill>
                <a:latin typeface="Inter"/>
              </a:rPr>
              <a:t> · 6× zoom on hover for pixel-level checks.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15921" y="6050872"/>
            <a:ext cx="3528000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0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10  ·  DEFENDING THE PIVOTS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Why didn’t they just stay on V1?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Three load-bearing claims for future contributors.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3576218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E84F1C"/>
                </a:solidFill>
                <a:latin typeface="JetBrai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284469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spc="-40" dirty="0">
                <a:solidFill>
                  <a:srgbClr val="0F0F12"/>
                </a:solidFill>
                <a:latin typeface="Inter"/>
              </a:rPr>
              <a:t>V1 → V2 wasn’t enough.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V2 added the missing layers. Built end-to-end. Accuracy down. Latency up.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5440680"/>
            <a:ext cx="284469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5778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0F0F12"/>
                </a:solidFill>
                <a:latin typeface="JetBrains Mono"/>
              </a:rPr>
              <a:t>Compounded an unreliable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2880360"/>
            <a:ext cx="3576218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3498" y="320040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E84F1C"/>
                </a:solidFill>
                <a:latin typeface="JetBrains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657600"/>
            <a:ext cx="2844698" cy="34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spc="-40">
                <a:solidFill>
                  <a:srgbClr val="0F0F12"/>
                </a:solidFill>
                <a:latin typeface="Inter"/>
              </a:rPr>
              <a:t>V1 → V3 was correct.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498" y="466344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V3 removes the failure mode. The user names the color. Downstream is deterministic.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73498" y="5440680"/>
            <a:ext cx="284469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73498" y="55778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0F0F12"/>
                </a:solidFill>
                <a:latin typeface="JetBrains Mono"/>
              </a:rPr>
              <a:t>Trade: one click. Win: 3 / 5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556" y="2880360"/>
            <a:ext cx="3576218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8316" y="320040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E84F1C"/>
                </a:solidFill>
                <a:latin typeface="JetBrains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8316" y="3657600"/>
            <a:ext cx="2844698" cy="346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spc="-40">
                <a:solidFill>
                  <a:srgbClr val="0F0F12"/>
                </a:solidFill>
                <a:latin typeface="Inter"/>
              </a:rPr>
              <a:t>V3 isn’t the final 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8316" y="4663440"/>
            <a:ext cx="28446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Doesn’t yet handle parallel-wall ducts. Requires manual color pick. Roadmap closes both.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78316" y="5440680"/>
            <a:ext cx="284469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78316" y="55778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0F0F12"/>
                </a:solidFill>
                <a:latin typeface="JetBrains Mono"/>
              </a:rPr>
              <a:t>Custom model replaces the pick.</a:t>
            </a:r>
          </a:p>
        </p:txBody>
      </p:sp>
    </p:spTree>
    <p:extLst>
      <p:ext uri="{BB962C8B-B14F-4D97-AF65-F5344CB8AC3E}">
        <p14:creationId xmlns:p14="http://schemas.microsoft.com/office/powerpoint/2010/main" val="158003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wRule">
            <a:extLst>
              <a:ext uri="{FF2B5EF4-FFF2-40B4-BE49-F238E27FC236}">
                <a16:creationId xmlns:a16="http://schemas.microsoft.com/office/drawing/2014/main" id="{A6A59DC5-174E-7B4E-B5A0-ED20D59120F7}"/>
              </a:ext>
            </a:extLst>
          </p:cNvPr>
          <p:cNvSpPr/>
          <p:nvPr/>
        </p:nvSpPr>
        <p:spPr>
          <a:xfrm>
            <a:off x="508000" y="50609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RowRule">
            <a:extLst>
              <a:ext uri="{FF2B5EF4-FFF2-40B4-BE49-F238E27FC236}">
                <a16:creationId xmlns:a16="http://schemas.microsoft.com/office/drawing/2014/main" id="{9D718D53-6B4A-274D-9322-5CBC01077410}"/>
              </a:ext>
            </a:extLst>
          </p:cNvPr>
          <p:cNvSpPr/>
          <p:nvPr/>
        </p:nvSpPr>
        <p:spPr>
          <a:xfrm>
            <a:off x="508000" y="46545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RowRule">
            <a:extLst>
              <a:ext uri="{FF2B5EF4-FFF2-40B4-BE49-F238E27FC236}">
                <a16:creationId xmlns:a16="http://schemas.microsoft.com/office/drawing/2014/main" id="{ED1FBD80-A3D5-F049-90A1-BE75DB336C26}"/>
              </a:ext>
            </a:extLst>
          </p:cNvPr>
          <p:cNvSpPr/>
          <p:nvPr/>
        </p:nvSpPr>
        <p:spPr>
          <a:xfrm>
            <a:off x="508000" y="42481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wRule">
            <a:extLst>
              <a:ext uri="{FF2B5EF4-FFF2-40B4-BE49-F238E27FC236}">
                <a16:creationId xmlns:a16="http://schemas.microsoft.com/office/drawing/2014/main" id="{C9495666-41A8-D743-9CD2-034A0A807518}"/>
              </a:ext>
            </a:extLst>
          </p:cNvPr>
          <p:cNvSpPr/>
          <p:nvPr/>
        </p:nvSpPr>
        <p:spPr>
          <a:xfrm>
            <a:off x="508000" y="38417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wRule">
            <a:extLst>
              <a:ext uri="{FF2B5EF4-FFF2-40B4-BE49-F238E27FC236}">
                <a16:creationId xmlns:a16="http://schemas.microsoft.com/office/drawing/2014/main" id="{D4347251-0741-4246-A05B-10E8ECEF11EE}"/>
              </a:ext>
            </a:extLst>
          </p:cNvPr>
          <p:cNvSpPr/>
          <p:nvPr/>
        </p:nvSpPr>
        <p:spPr>
          <a:xfrm>
            <a:off x="508000" y="34353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owRule">
            <a:extLst>
              <a:ext uri="{FF2B5EF4-FFF2-40B4-BE49-F238E27FC236}">
                <a16:creationId xmlns:a16="http://schemas.microsoft.com/office/drawing/2014/main" id="{F6839D36-015D-5E4A-A24F-56E5424A9A41}"/>
              </a:ext>
            </a:extLst>
          </p:cNvPr>
          <p:cNvSpPr/>
          <p:nvPr/>
        </p:nvSpPr>
        <p:spPr>
          <a:xfrm>
            <a:off x="508000" y="302895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11  ·  PRODUCTION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Standards-based milestones.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Each milestone — handles drawings of standard X in Y months. Pace assumes V3’s shipping cadence.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87410" y="5459757"/>
            <a:ext cx="8168335" cy="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87410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13090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54314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79994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1218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46898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8122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3802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55026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80706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21930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47610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88834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14514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M12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155738" y="5414037"/>
            <a:ext cx="0" cy="91440"/>
          </a:xfrm>
          <a:prstGeom prst="line">
            <a:avLst/>
          </a:prstGeom>
          <a:ln w="508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881418" y="5561357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100">
                <a:solidFill>
                  <a:srgbClr val="8A8A90"/>
                </a:solidFill>
                <a:latin typeface="JetBrains Mono"/>
              </a:rPr>
              <a:t>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7305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V3 alpha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87410" y="2794553"/>
            <a:ext cx="583452" cy="72000"/>
          </a:xfrm>
          <a:prstGeom prst="roundRect">
            <a:avLst>
              <a:gd name="adj" fmla="val 50000"/>
            </a:avLst>
          </a:prstGeom>
          <a:solidFill>
            <a:srgbClr val="156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93532" y="2740208"/>
            <a:ext cx="2917260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Color-coded · 3 /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1369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OCR-anchored Pattern A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M1–M2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0862" y="3202862"/>
            <a:ext cx="1166904" cy="72000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60436" y="3148517"/>
            <a:ext cx="2642940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Parallel-wall  ·  5 / 5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5433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Schedules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M3–M4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7766" y="3600210"/>
            <a:ext cx="1166904" cy="72000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27339" y="3545865"/>
            <a:ext cx="3005153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Equipment + 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9497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Multi-page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M5–M6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04670" y="4012610"/>
            <a:ext cx="1166904" cy="72000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94244" y="3958265"/>
            <a:ext cx="4084164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8 – 40 sheet 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3561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Auto-detect color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M7–M9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71574" y="4421742"/>
            <a:ext cx="1750356" cy="72000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44600" y="4367396"/>
            <a:ext cx="2128566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No manual pick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625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Confidence calibration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M10–M12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1930" y="4820826"/>
            <a:ext cx="1750356" cy="72000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4955" y="4766480"/>
            <a:ext cx="993311" cy="180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3A3A3F"/>
                </a:solidFill>
                <a:latin typeface="Inter"/>
              </a:rPr>
              <a:t>200–500 corpus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168900"/>
            <a:ext cx="2468880" cy="19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spc="-10" dirty="0">
                <a:solidFill>
                  <a:srgbClr val="0F0F12"/>
                </a:solidFill>
                <a:latin typeface="Inter"/>
              </a:rPr>
              <a:t>Custom model</a:t>
            </a:r>
            <a:r>
              <a:rPr sz="900" spc="100" dirty="0">
                <a:solidFill>
                  <a:srgbClr val="8A8A90"/>
                </a:solidFill>
                <a:latin typeface="Inter"/>
              </a:rPr>
              <a:t>  ·  YEAR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72286" y="5227226"/>
            <a:ext cx="583452" cy="72000"/>
          </a:xfrm>
          <a:prstGeom prst="roundRect">
            <a:avLst>
              <a:gd name="adj" fmla="val 50000"/>
            </a:avLst>
          </a:prstGeom>
          <a:solidFill>
            <a:srgbClr val="8A8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32736" y="5151369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02920" y="59944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61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 dirty="0">
                <a:solidFill>
                  <a:srgbClr val="E84F1C"/>
                </a:solidFill>
                <a:latin typeface="JetBrains Mono"/>
              </a:rPr>
              <a:t>CAVEATS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7830" y="6151760"/>
            <a:ext cx="9820946" cy="20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dirty="0">
                <a:solidFill>
                  <a:srgbClr val="3A3A3F"/>
                </a:solidFill>
                <a:latin typeface="Inter"/>
              </a:rPr>
              <a:t>2–3 weeks build + 1 week iteration per milestone  ·  one engineer FT on detection  ·  part-time front-end + ops  ·  customer-pilot drift can push by a multiple.</a:t>
            </a:r>
          </a:p>
        </p:txBody>
      </p:sp>
    </p:spTree>
    <p:extLst>
      <p:ext uri="{BB962C8B-B14F-4D97-AF65-F5344CB8AC3E}">
        <p14:creationId xmlns:p14="http://schemas.microsoft.com/office/powerpoint/2010/main" val="11184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12  ·  PATH TO FULL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Three improvement tracks.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Out-of-the-box VLMs already failed. Forward path is fine-tuning.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3576218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TRACK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0298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M0 → 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936138" cy="283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spc="-30" dirty="0">
                <a:solidFill>
                  <a:srgbClr val="0F0F12"/>
                </a:solidFill>
                <a:latin typeface="Inter"/>
              </a:rPr>
              <a:t>V3 deterministic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10025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146017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OCR-anchored Pattern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02633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3862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Pattern A auto-detection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95241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731233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Schedule + legend 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87849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023841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Confidence calibration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497553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43354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Multi-page topology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5357041"/>
            <a:ext cx="293613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732840"/>
            <a:ext cx="29361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20">
                <a:solidFill>
                  <a:srgbClr val="0F0F12"/>
                </a:solidFill>
                <a:latin typeface="JetBrains Mono"/>
              </a:rPr>
              <a:t>1 engineer FT  ·  6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7738" y="2788920"/>
            <a:ext cx="3576218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7778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TRACK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5116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YEAR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7778" y="3566160"/>
            <a:ext cx="2936138" cy="283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spc="-30">
                <a:solidFill>
                  <a:srgbClr val="0F0F12"/>
                </a:solidFill>
                <a:latin typeface="Inter"/>
              </a:rPr>
              <a:t>Fine-tuned VLM, in parallel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7778" y="4210025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10658" y="4146017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Out-of-box Claude / GPT-4o failed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27778" y="4502633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10658" y="443862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Path A — fine-tune Claude / GPT-4o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27778" y="4795241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0658" y="4731233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Path B — open-source LoRA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27778" y="5087849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10658" y="5023841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Same eval, both paths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27778" y="5497553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10658" y="543354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Migrate to OSS once it wins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627778" y="5357041"/>
            <a:ext cx="293613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27778" y="5732840"/>
            <a:ext cx="29361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20">
                <a:solidFill>
                  <a:srgbClr val="0F0F12"/>
                </a:solidFill>
                <a:latin typeface="JetBrains Mono"/>
              </a:rPr>
              <a:t>Shared corpus  ·  ~$30–80K  ·  6–9 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12556" y="2788920"/>
            <a:ext cx="3576218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2596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TRACK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9934" y="3108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YEAR 2 H2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2596" y="3566160"/>
            <a:ext cx="2936138" cy="283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spc="-30">
                <a:solidFill>
                  <a:srgbClr val="0F0F12"/>
                </a:solidFill>
                <a:latin typeface="Inter"/>
              </a:rPr>
              <a:t>Custom detection model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32596" y="4210025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15476" y="4146017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Faster R-CNN  ·  FPN backbone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2596" y="4502633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15476" y="443862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1K–5K labeled drawings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32596" y="4795241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15476" y="4731233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$30–80 / drawing labeled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32596" y="5087849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15476" y="5023841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$5–10K compute  ·  3–4 mo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32596" y="5497553"/>
            <a:ext cx="73152" cy="73152"/>
          </a:xfrm>
          <a:prstGeom prst="roundRect">
            <a:avLst>
              <a:gd name="adj" fmla="val 50000"/>
            </a:avLst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15476" y="5433545"/>
            <a:ext cx="27532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A3F"/>
                </a:solidFill>
                <a:latin typeface="Inter"/>
              </a:rPr>
              <a:t>Replaces the picker UX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432596" y="5357041"/>
            <a:ext cx="2936138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432596" y="5732840"/>
            <a:ext cx="293613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20">
                <a:solidFill>
                  <a:srgbClr val="0F0F12"/>
                </a:solidFill>
                <a:latin typeface="JetBrains Mono"/>
              </a:rPr>
              <a:t>Data-bound  ·  9–12 months</a:t>
            </a:r>
          </a:p>
        </p:txBody>
      </p:sp>
    </p:spTree>
    <p:extLst>
      <p:ext uri="{BB962C8B-B14F-4D97-AF65-F5344CB8AC3E}">
        <p14:creationId xmlns:p14="http://schemas.microsoft.com/office/powerpoint/2010/main" val="1052235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13  ·  TRACK 02  ·  FINE-TUNED VLM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Two fine-tune paths. One shared corpus.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Out-of-the-box Claude  ·  GPT-4o  ·  llama3.2-vision  all failed on engineering drawings.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87441"/>
            <a:ext cx="5410047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61761"/>
            <a:ext cx="47699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PATH A  ·  PROPRIETARY FINE-TUNE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7521"/>
            <a:ext cx="47699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30">
                <a:solidFill>
                  <a:srgbClr val="0F0F12"/>
                </a:solidFill>
                <a:latin typeface="Inter"/>
              </a:rPr>
              <a:t>Fine-tune Claude or GPT-4o vision.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676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73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VENDOR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0224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Anthropic / OpenAI vision fine-tune programs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4248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5345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WHY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4796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Highest-capacity base  ·  fastest to clear the bar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8820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9917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9368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Customer can ship drawings off-prem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53392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4489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3940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Per-token API  ·  ≈ $0.05 – $0.15 /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2687441"/>
            <a:ext cx="5410047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8767" y="2961761"/>
            <a:ext cx="47699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PATH B  ·  OPEN-SOURCE LORA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767" y="3327521"/>
            <a:ext cx="47699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spc="-30">
                <a:solidFill>
                  <a:srgbClr val="0F0F12"/>
                </a:solidFill>
                <a:latin typeface="Inter"/>
              </a:rPr>
              <a:t>Open-source vision + LoRA on same data.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98767" y="39676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98767" y="40773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6087" y="40224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Llama 3.2 Vision  ·  Qwen2-VL  ·  DeepSeek-VL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98767" y="44248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98767" y="45345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ADAPTER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6087" y="44796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LoRA  ·  4-bit quant on 24 GB GPU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98767" y="48820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98767" y="49917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WHY PARALLEL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6087" y="49368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Same training data — funding both is incremental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98767" y="5339201"/>
            <a:ext cx="4769967" cy="0"/>
          </a:xfrm>
          <a:prstGeom prst="line">
            <a:avLst/>
          </a:prstGeom>
          <a:ln w="508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98767" y="544892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ON-PREM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6087" y="5394065"/>
            <a:ext cx="33526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F0F12"/>
                </a:solidFill>
                <a:latin typeface="Inter"/>
              </a:rPr>
              <a:t>Defence, gov, AEC firms that can’t ship to a vendor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89320"/>
            <a:ext cx="11185855" cy="502920"/>
          </a:xfrm>
          <a:prstGeom prst="roundRect">
            <a:avLst>
              <a:gd name="adj" fmla="val 4000"/>
            </a:avLst>
          </a:prstGeom>
          <a:solidFill>
            <a:srgbClr val="FDF1D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6123861"/>
            <a:ext cx="10454335" cy="21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5A5A60"/>
                </a:solidFill>
                <a:latin typeface="Inter"/>
              </a:rPr>
              <a:t>Convergence — when the OSS fine-tune outperforms on the same eval, migrate to OSS only. Lower cost  ·  on-prem  ·  no lock-in.</a:t>
            </a:r>
          </a:p>
        </p:txBody>
      </p:sp>
    </p:spTree>
    <p:extLst>
      <p:ext uri="{BB962C8B-B14F-4D97-AF65-F5344CB8AC3E}">
        <p14:creationId xmlns:p14="http://schemas.microsoft.com/office/powerpoint/2010/main" val="428896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14  ·  TRACK 03  ·  CUSTOM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516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spc="-60">
                <a:solidFill>
                  <a:srgbClr val="0F0F12"/>
                </a:solidFill>
                <a:latin typeface="Inter"/>
              </a:rPr>
              <a:t>Purpose-trained detector replaces the picker.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54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spc="-10">
                <a:solidFill>
                  <a:srgbClr val="3A3A3F"/>
                </a:solidFill>
                <a:latin typeface="Inter"/>
              </a:rPr>
              <a:t>Pressure class, dim attribution, and SMACNA logic stay downstream of detection —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9303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2110663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spc="-50" dirty="0">
                <a:solidFill>
                  <a:srgbClr val="0F0F12"/>
                </a:solidFill>
                <a:latin typeface="Inter"/>
              </a:rPr>
              <a:t>Faster R-CNN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2"/>
            <a:ext cx="2110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1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FPN backbone  ·  calibrated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5103" y="2880360"/>
            <a:ext cx="2659303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9423" y="3154680"/>
            <a:ext cx="21106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spc="-50">
                <a:solidFill>
                  <a:srgbClr val="0F0F12"/>
                </a:solidFill>
                <a:latin typeface="Inter"/>
              </a:rPr>
              <a:t>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3685032"/>
            <a:ext cx="2110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LABELED DRAWINGS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23" y="3913631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Customer-contributed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6" y="2880360"/>
            <a:ext cx="2659303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1606" y="3154680"/>
            <a:ext cx="21106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spc="-50">
                <a:solidFill>
                  <a:srgbClr val="0F0F12"/>
                </a:solidFill>
                <a:latin typeface="Inter"/>
              </a:rPr>
              <a:t>$30–80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685032"/>
            <a:ext cx="2110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PER DRAWING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6" y="3913631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Technical labelers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469" y="2880360"/>
            <a:ext cx="2659303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3789" y="3154680"/>
            <a:ext cx="21106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spc="-50">
                <a:solidFill>
                  <a:srgbClr val="0F0F12"/>
                </a:solidFill>
                <a:latin typeface="Inter"/>
              </a:rPr>
              <a:t>$5–10K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89" y="3685032"/>
            <a:ext cx="2110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50">
                <a:solidFill>
                  <a:srgbClr val="8A8A90"/>
                </a:solidFill>
                <a:latin typeface="JetBrains Mono"/>
              </a:rPr>
              <a:t>TRAINING 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3789" y="3913631"/>
            <a:ext cx="2110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A3A3F"/>
                </a:solidFill>
                <a:latin typeface="Inter"/>
              </a:rPr>
              <a:t>5K corpus  ·  A100 hours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72000"/>
            <a:ext cx="5410047" cy="1554480"/>
          </a:xfrm>
          <a:prstGeom prst="roundRect">
            <a:avLst>
              <a:gd name="adj" fmla="val 4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800600"/>
            <a:ext cx="47699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WHAT IT REPLACES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4769967" cy="228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20" dirty="0">
                <a:solidFill>
                  <a:srgbClr val="0F0F12"/>
                </a:solidFill>
                <a:latin typeface="Inter"/>
              </a:rPr>
              <a:t>Just the user’s color-pick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3A3A3F"/>
                </a:solidFill>
                <a:latin typeface="Inter"/>
              </a:rPr>
              <a:t>Upload → segments. No picker. Pressure class, dim attribution, SMACNA — unchanged. V3 deterministic stays as fallback.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4572000"/>
            <a:ext cx="5410047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8767" y="4800600"/>
            <a:ext cx="47699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RISKS TO WATCH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98767" y="5230368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1647" y="5166360"/>
            <a:ext cx="45870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Distribution shift on new customers.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98767" y="5522976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81647" y="5458968"/>
            <a:ext cx="45870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Confidence calibration in detectors.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98767" y="5815584"/>
            <a:ext cx="73152" cy="73152"/>
          </a:xfrm>
          <a:prstGeom prst="roundRect">
            <a:avLst>
              <a:gd name="adj" fmla="val 50000"/>
            </a:avLst>
          </a:prstGeom>
          <a:solidFill>
            <a:srgbClr val="E84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81647" y="5751576"/>
            <a:ext cx="45870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F0F12"/>
                </a:solidFill>
                <a:latin typeface="Inter"/>
              </a:rPr>
              <a:t>V3 must stay green for fallback.</a:t>
            </a:r>
          </a:p>
        </p:txBody>
      </p:sp>
    </p:spTree>
    <p:extLst>
      <p:ext uri="{BB962C8B-B14F-4D97-AF65-F5344CB8AC3E}">
        <p14:creationId xmlns:p14="http://schemas.microsoft.com/office/powerpoint/2010/main" val="231717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02920" y="457200"/>
            <a:ext cx="11185855" cy="0"/>
          </a:xfrm>
          <a:prstGeom prst="line">
            <a:avLst/>
          </a:prstGeom>
          <a:ln w="6350">
            <a:solidFill>
              <a:srgbClr val="E3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6459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-40">
                <a:solidFill>
                  <a:srgbClr val="0F0F12"/>
                </a:solidFill>
                <a:latin typeface="Inter"/>
              </a:rPr>
              <a:t>Ductline</a:t>
            </a:r>
            <a:r>
              <a:rPr sz="1050" b="0" spc="-20">
                <a:solidFill>
                  <a:srgbClr val="8A8A90"/>
                </a:solidFill>
                <a:latin typeface="Inter"/>
              </a:rPr>
              <a:t>  ·  Drawing in. Structured duct data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9975" y="1645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spc="100">
                <a:solidFill>
                  <a:srgbClr val="8A8A90"/>
                </a:solidFill>
                <a:latin typeface="JetBrains Mono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1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E84F1C"/>
                </a:solidFill>
                <a:latin typeface="JetBrains Mono"/>
              </a:rPr>
              <a:t>15  ·  WHAT MAKES THIS DEFENSIBLE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5679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60">
                <a:solidFill>
                  <a:srgbClr val="0F0F12"/>
                </a:solidFill>
                <a:latin typeface="Inter"/>
              </a:rPr>
              <a:t>Three commitments behind the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60169"/>
            <a:ext cx="3576218" cy="28307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48129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 dirty="0">
                <a:solidFill>
                  <a:srgbClr val="E84F1C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51049"/>
            <a:ext cx="28446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spc="-40" dirty="0">
                <a:solidFill>
                  <a:srgbClr val="0F0F12"/>
                </a:solidFill>
                <a:latin typeface="Inter"/>
              </a:rPr>
              <a:t>Algorithmic-first.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74009"/>
            <a:ext cx="28446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A3A3F"/>
                </a:solidFill>
                <a:latin typeface="Inter"/>
              </a:rPr>
              <a:t>Deterministic where possible. The VLM is one config flip away — the pipeline isn’t built around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2360169"/>
            <a:ext cx="3576218" cy="28307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3498" y="2548129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E84F1C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051049"/>
            <a:ext cx="28446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spc="-40">
                <a:solidFill>
                  <a:srgbClr val="0F0F12"/>
                </a:solidFill>
                <a:latin typeface="Inter"/>
              </a:rPr>
              <a:t>Honest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3874009"/>
            <a:ext cx="28446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Calibration cross-validates extracted dims against measured pixels. We never claim ‘high’ for a value we didn’t OCR.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2360169"/>
            <a:ext cx="3576218" cy="28307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3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8316" y="2548129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E84F1C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8316" y="3051049"/>
            <a:ext cx="28446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spc="-40">
                <a:solidFill>
                  <a:srgbClr val="0F0F12"/>
                </a:solidFill>
                <a:latin typeface="Inter"/>
              </a:rPr>
              <a:t>Reasoning surfaced.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8316" y="3874009"/>
            <a:ext cx="28446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3A3F"/>
                </a:solidFill>
                <a:latin typeface="Inter"/>
              </a:rPr>
              <a:t>Every detection carries its trace — attribution rule, ppu source, pressure source. The user sees what the system saw.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23560"/>
            <a:ext cx="11185855" cy="868680"/>
          </a:xfrm>
          <a:prstGeom prst="roundRect">
            <a:avLst>
              <a:gd name="adj" fmla="val 4000"/>
            </a:avLst>
          </a:prstGeom>
          <a:solidFill>
            <a:srgbClr val="FDF1D9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788152"/>
            <a:ext cx="104543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50">
                <a:solidFill>
                  <a:srgbClr val="0F0F12"/>
                </a:solidFill>
                <a:latin typeface="Inter"/>
              </a:rPr>
              <a:t>Ductline.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39" y="5870448"/>
            <a:ext cx="88998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-10">
                <a:solidFill>
                  <a:srgbClr val="5A5A60"/>
                </a:solidFill>
                <a:latin typeface="Inter"/>
              </a:rPr>
              <a:t>Drawing in. Structured duct data 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126480"/>
            <a:ext cx="10454335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E84F1C"/>
                </a:solidFill>
                <a:latin typeface="JetBrains Mono"/>
              </a:rPr>
              <a:t>V3 ALPHA SHIPPING  ·  M0–M6 CLOSES THE DETERMINISTIC GAPS  ·  YEAR 2 CLOSES THE MODEL GAP.</a:t>
            </a:r>
          </a:p>
        </p:txBody>
      </p:sp>
    </p:spTree>
    <p:extLst>
      <p:ext uri="{BB962C8B-B14F-4D97-AF65-F5344CB8AC3E}">
        <p14:creationId xmlns:p14="http://schemas.microsoft.com/office/powerpoint/2010/main" val="410015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525644-C449-4041-9359-CD92E324371E}"/>
              </a:ext>
            </a:extLst>
          </p:cNvPr>
          <p:cNvSpPr/>
          <p:nvPr/>
        </p:nvSpPr>
        <p:spPr>
          <a:xfrm>
            <a:off x="7861300" y="508000"/>
            <a:ext cx="6350" cy="585470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5D4AD-6CCE-5743-BFB9-FAC854B31A2C}"/>
              </a:ext>
            </a:extLst>
          </p:cNvPr>
          <p:cNvSpPr/>
          <p:nvPr/>
        </p:nvSpPr>
        <p:spPr>
          <a:xfrm>
            <a:off x="508000" y="635000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B43D2-C53B-604F-9393-F00C13F2BC61}"/>
              </a:ext>
            </a:extLst>
          </p:cNvPr>
          <p:cNvSpPr/>
          <p:nvPr/>
        </p:nvSpPr>
        <p:spPr>
          <a:xfrm>
            <a:off x="508000" y="508000"/>
            <a:ext cx="11188700" cy="6350"/>
          </a:xfrm>
          <a:prstGeom prst="rect">
            <a:avLst/>
          </a:prstGeom>
          <a:solidFill>
            <a:srgbClr val="E3E2D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4E13-D131-7942-B2E9-F8595B14C883}"/>
              </a:ext>
            </a:extLst>
          </p:cNvPr>
          <p:cNvSpPr txBox="1"/>
          <p:nvPr/>
        </p:nvSpPr>
        <p:spPr>
          <a:xfrm>
            <a:off x="508000" y="177800"/>
            <a:ext cx="731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6FC1C-D571-9740-AF72-E997647BB634}"/>
              </a:ext>
            </a:extLst>
          </p:cNvPr>
          <p:cNvSpPr txBox="1"/>
          <p:nvPr/>
        </p:nvSpPr>
        <p:spPr>
          <a:xfrm>
            <a:off x="7950200" y="177800"/>
            <a:ext cx="373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3CAC1-CB66-844B-AFC5-D1E592A28586}"/>
              </a:ext>
            </a:extLst>
          </p:cNvPr>
          <p:cNvSpPr txBox="1"/>
          <p:nvPr/>
        </p:nvSpPr>
        <p:spPr>
          <a:xfrm>
            <a:off x="508000" y="3175000"/>
            <a:ext cx="73152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59CAF-59F5-7044-A37A-6583FBE6F4B5}"/>
              </a:ext>
            </a:extLst>
          </p:cNvPr>
          <p:cNvSpPr txBox="1"/>
          <p:nvPr/>
        </p:nvSpPr>
        <p:spPr>
          <a:xfrm>
            <a:off x="508000" y="177800"/>
            <a:ext cx="7315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 spc="100" dirty="0">
                <a:solidFill>
                  <a:srgbClr val="0F0F12"/>
                </a:solidFill>
                <a:latin typeface="JetBrains Mono"/>
              </a:rPr>
              <a:t>Ductline</a:t>
            </a:r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  ·  Drawing in. Structured duct data out.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135E3D-747F-FF47-B3DE-FF70BAF3EEDF}"/>
              </a:ext>
            </a:extLst>
          </p:cNvPr>
          <p:cNvSpPr txBox="1"/>
          <p:nvPr/>
        </p:nvSpPr>
        <p:spPr>
          <a:xfrm>
            <a:off x="7950200" y="177800"/>
            <a:ext cx="37338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n-US" sz="1100" b="0" spc="100" dirty="0">
                <a:solidFill>
                  <a:srgbClr val="8A8A90"/>
                </a:solidFill>
                <a:latin typeface="JetBrains Mono"/>
              </a:rPr>
              <a:t>17 /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7A55F-4F55-0C4B-80FD-DB9AAD2CAB18}"/>
              </a:ext>
            </a:extLst>
          </p:cNvPr>
          <p:cNvSpPr txBox="1"/>
          <p:nvPr/>
        </p:nvSpPr>
        <p:spPr>
          <a:xfrm>
            <a:off x="508000" y="4601626"/>
            <a:ext cx="73152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400" b="1" spc="-250" dirty="0">
                <a:solidFill>
                  <a:srgbClr val="0F0F12"/>
                </a:solidFill>
                <a:latin typeface="Inter"/>
              </a:rPr>
              <a:t>Thank you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0D0E62-B028-E247-B758-B5BF5095E92F}"/>
              </a:ext>
            </a:extLst>
          </p:cNvPr>
          <p:cNvSpPr/>
          <p:nvPr/>
        </p:nvSpPr>
        <p:spPr>
          <a:xfrm>
            <a:off x="5887844" y="5422036"/>
            <a:ext cx="279400" cy="279400"/>
          </a:xfrm>
          <a:prstGeom prst="ellipse">
            <a:avLst/>
          </a:prstGeom>
          <a:solidFill>
            <a:srgbClr val="E84F1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ED4F2-852C-7D46-991A-EF2D14667F54}"/>
              </a:ext>
            </a:extLst>
          </p:cNvPr>
          <p:cNvSpPr txBox="1"/>
          <p:nvPr/>
        </p:nvSpPr>
        <p:spPr>
          <a:xfrm>
            <a:off x="8178800" y="3873500"/>
            <a:ext cx="3505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0" spc="200" dirty="0">
                <a:solidFill>
                  <a:srgbClr val="E84F1C"/>
                </a:solidFill>
                <a:latin typeface="JetBrains Mono"/>
              </a:rPr>
              <a:t>CONTACT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8655A-4435-C14F-B8BC-E8E9565B92A3}"/>
              </a:ext>
            </a:extLst>
          </p:cNvPr>
          <p:cNvSpPr txBox="1"/>
          <p:nvPr/>
        </p:nvSpPr>
        <p:spPr>
          <a:xfrm>
            <a:off x="8178800" y="4305300"/>
            <a:ext cx="35052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0" spc="200" dirty="0">
                <a:solidFill>
                  <a:srgbClr val="8A8A90"/>
                </a:solidFill>
                <a:latin typeface="JetBrains Mono"/>
              </a:rPr>
              <a:t>AUTHOR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5F229-8C11-BE41-A552-8DA8252CE399}"/>
              </a:ext>
            </a:extLst>
          </p:cNvPr>
          <p:cNvSpPr txBox="1"/>
          <p:nvPr/>
        </p:nvSpPr>
        <p:spPr>
          <a:xfrm>
            <a:off x="8178800" y="4533900"/>
            <a:ext cx="3505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spc="-10" dirty="0">
                <a:solidFill>
                  <a:srgbClr val="0F0F12"/>
                </a:solidFill>
                <a:latin typeface="Inter"/>
              </a:rPr>
              <a:t>Arjun Sarath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C10F4-99F4-8D4C-AF9C-20BA3A0026CA}"/>
              </a:ext>
            </a:extLst>
          </p:cNvPr>
          <p:cNvSpPr txBox="1"/>
          <p:nvPr/>
        </p:nvSpPr>
        <p:spPr>
          <a:xfrm>
            <a:off x="8178800" y="4902200"/>
            <a:ext cx="35052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 b="0" spc="200" dirty="0">
                <a:solidFill>
                  <a:srgbClr val="8A8A90"/>
                </a:solidFill>
                <a:latin typeface="JetBrains Mono"/>
              </a:rPr>
              <a:t>REPO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F6B881-6EBA-B844-9B03-34D6D7C473C4}"/>
              </a:ext>
            </a:extLst>
          </p:cNvPr>
          <p:cNvSpPr txBox="1"/>
          <p:nvPr/>
        </p:nvSpPr>
        <p:spPr>
          <a:xfrm>
            <a:off x="8178800" y="5130800"/>
            <a:ext cx="3505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0" spc="-10" dirty="0">
                <a:solidFill>
                  <a:srgbClr val="0F0F12"/>
                </a:solidFill>
                <a:latin typeface="Inter"/>
              </a:rPr>
              <a:t>implementation/  ·  V1, V2, V3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EB574-7625-4D44-8C05-2A482AD41228}"/>
              </a:ext>
            </a:extLst>
          </p:cNvPr>
          <p:cNvSpPr txBox="1"/>
          <p:nvPr/>
        </p:nvSpPr>
        <p:spPr>
          <a:xfrm>
            <a:off x="8178800" y="5740400"/>
            <a:ext cx="35052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0" spc="150" dirty="0">
                <a:solidFill>
                  <a:srgbClr val="E84F1C"/>
                </a:solidFill>
                <a:latin typeface="JetBrains Mono"/>
              </a:rPr>
              <a:t>V3 ALPHA SHIPPING  ·  ROADMAP DEFINED.</a:t>
            </a:r>
          </a:p>
        </p:txBody>
      </p:sp>
    </p:spTree>
    <p:extLst>
      <p:ext uri="{BB962C8B-B14F-4D97-AF65-F5344CB8AC3E}">
        <p14:creationId xmlns:p14="http://schemas.microsoft.com/office/powerpoint/2010/main" val="400535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1C31FE-8549-8D4E-884C-C55E31F3F708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7e777319-734e-460d-8e64-390e0e81564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2243</Words>
  <Application>Microsoft Macintosh PowerPoint</Application>
  <PresentationFormat>Widescreen</PresentationFormat>
  <Paragraphs>452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Sarath</cp:lastModifiedBy>
  <cp:revision>6</cp:revision>
  <dcterms:created xsi:type="dcterms:W3CDTF">2013-01-27T09:14:16Z</dcterms:created>
  <dcterms:modified xsi:type="dcterms:W3CDTF">2026-05-05T13:56:37Z</dcterms:modified>
  <cp:category/>
</cp:coreProperties>
</file>